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6" r:id="rId5"/>
    <p:sldId id="257" r:id="rId6"/>
    <p:sldId id="264" r:id="rId7"/>
    <p:sldId id="258" r:id="rId8"/>
    <p:sldId id="273" r:id="rId9"/>
    <p:sldId id="265" r:id="rId10"/>
    <p:sldId id="259" r:id="rId11"/>
    <p:sldId id="262" r:id="rId12"/>
    <p:sldId id="263" r:id="rId13"/>
    <p:sldId id="266" r:id="rId14"/>
    <p:sldId id="260" r:id="rId15"/>
    <p:sldId id="267" r:id="rId16"/>
    <p:sldId id="261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B52A0-BFEE-D644-81A0-1EE9FE4FCFE6}" v="206" dt="2025-12-07T14:24:5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694"/>
  </p:normalViewPr>
  <p:slideViewPr>
    <p:cSldViewPr snapToGrid="0">
      <p:cViewPr varScale="1">
        <p:scale>
          <a:sx n="96" d="100"/>
          <a:sy n="96" d="100"/>
        </p:scale>
        <p:origin x="17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BD758-17E0-A742-96AD-8CBF3B81F3E5}" type="datetimeFigureOut">
              <a:rPr lang="en-DE" smtClean="0"/>
              <a:t>07.12.25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4D46F-CC73-0F4B-8F55-F2219416F95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512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Protein Denaturation</a:t>
            </a:r>
            <a:r>
              <a:rPr lang="en-GB" sz="1200" dirty="0"/>
              <a:t> - Gluten and egg proteins unfold and form new bonds, creating structure</a:t>
            </a:r>
          </a:p>
          <a:p>
            <a:r>
              <a:rPr lang="en-GB" sz="1200" b="1" dirty="0"/>
              <a:t>Starch Gelatinization</a:t>
            </a:r>
            <a:r>
              <a:rPr lang="en-GB" sz="1200" dirty="0"/>
              <a:t> - Starch granules absorb water, swell, and form a gel network that gives body to the dough</a:t>
            </a:r>
          </a:p>
          <a:p>
            <a:r>
              <a:rPr lang="en-GB" sz="1200" b="1" dirty="0"/>
              <a:t>Maillard Reaction</a:t>
            </a:r>
            <a:r>
              <a:rPr lang="en-GB" sz="1200" dirty="0"/>
              <a:t> - Amino acids and sugars react to create hundreds of </a:t>
            </a:r>
            <a:r>
              <a:rPr lang="en-GB" sz="1200" dirty="0" err="1"/>
              <a:t>flavor</a:t>
            </a:r>
            <a:r>
              <a:rPr lang="en-GB" sz="1200" dirty="0"/>
              <a:t> compounds and golden-brown </a:t>
            </a:r>
            <a:r>
              <a:rPr lang="en-GB" sz="1200" dirty="0" err="1"/>
              <a:t>color</a:t>
            </a:r>
            <a:endParaRPr lang="en-GB" sz="1200" dirty="0"/>
          </a:p>
          <a:p>
            <a:r>
              <a:rPr lang="en-GB" sz="1200" b="1" dirty="0"/>
              <a:t>Caramelization</a:t>
            </a:r>
            <a:r>
              <a:rPr lang="en-GB" sz="1200" dirty="0"/>
              <a:t> - Sugar molecules break down into smaller compounds, creating caramel </a:t>
            </a:r>
            <a:r>
              <a:rPr lang="en-GB" sz="1200" dirty="0" err="1"/>
              <a:t>flavors</a:t>
            </a:r>
            <a:r>
              <a:rPr lang="en-GB" sz="1200" dirty="0"/>
              <a:t> and darker browning</a:t>
            </a:r>
          </a:p>
          <a:p>
            <a:r>
              <a:rPr lang="en-GB" sz="1200" b="1" dirty="0"/>
              <a:t>Leavening Gas Expansion</a:t>
            </a:r>
            <a:r>
              <a:rPr lang="en-GB" sz="1200" dirty="0"/>
              <a:t> - Carbon dioxide from baking soda/powder and steam expand, causing the dough to rise</a:t>
            </a:r>
          </a:p>
          <a:p>
            <a:r>
              <a:rPr lang="en-GB" sz="1200" b="1" dirty="0"/>
              <a:t>Water Evaporation</a:t>
            </a:r>
            <a:r>
              <a:rPr lang="en-GB" sz="1200" dirty="0"/>
              <a:t> - Moisture escapes from the surface, creating a crispy crust while the interior stays moist</a:t>
            </a:r>
          </a:p>
          <a:p>
            <a:r>
              <a:rPr lang="en-GB" sz="1200" b="1" dirty="0"/>
              <a:t>Fat Melting</a:t>
            </a:r>
            <a:r>
              <a:rPr lang="en-GB" sz="1200" dirty="0"/>
              <a:t> - Butter melts and spreads, tenderizing the dough and carrying </a:t>
            </a:r>
            <a:r>
              <a:rPr lang="en-GB" sz="1200" dirty="0" err="1"/>
              <a:t>flavor</a:t>
            </a:r>
            <a:r>
              <a:rPr lang="en-GB" sz="1200" dirty="0"/>
              <a:t> throughout</a:t>
            </a:r>
            <a:endParaRPr lang="en-DE" sz="1200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E4D46F-CC73-0F4B-8F55-F2219416F95F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960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old-fashioned-gingerbread-cookies-recipe--12736811433094405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eepseek-ai/DeepSeek-OC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azharu.medium.com/deepseek-ocr-a-deep-dive-into-architecture-and-context-optical-compression-dc65778d0f33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Qwen/Qwen3-32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rtificialanalysis.ai/?models=deepseek-ocr%2Cqwen3-235b-a22b-instruct-2507-reasoning&amp;intelligence=artificial-analysis-intelligence-inde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tificialanalysis.ai/?models=gpt-5-1%2Cclaude-opus-4-5-thinking%2Cclaude-4-5-sonnet-thinking%2Cdeepseek-ocr%2Cdeepseek-v3-2-reasoning%2Cqwen3-vl-235b-a22b-reasoning%2Cqwen3-vl-32b-reasoning%2Cqwen3-235b-a22b-instruct-2507-reasoning%2Cqwen3-vl-4b-reasoning%2Cqwen3-vl-8b-reasoning%2Cgpt-4%2Cgpt-4-1%2Cclaude-35-sonnet%2Cclaude-4-sonnet-thinking&amp;intelligence=artificial-analysis-intelligence-inde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docs/getting-started/intro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-ui-protocol/ag-ui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black-forest-labs/FLUX.1-schnel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image/models?host-models=amazon-bedrock_amazon-titan-v1-standard%2Camazon-bedrock_amazon-titan-v2-standard%2Copenai_dalle-3-hd%2Cprodia_flux-1-dev_fast%2Cblack-forest-labs_flux1-dev%2Cfireworks.ai_flux-1-schnell%2Cblack-forest-labs_flux-1-kontext-max%2Cgoogle_gemini-2-0-flash-preview%2Cxai_grok-2%2Creplicate_hidream-i1-dev%2Cvivago_hidream-i1-dev%2Cideogram_ideogram_3%2Cgoogle_imagen-4-ultra-experimental-v2%2Cvyro_imagineart-1-5-preview%2Cleonardo_lucid-origin-ultra%2Cqwen_replicate_qwen-image%2Crecraftai_recraft-v3%2CByteplus_seedream-4-0%2Creplicate_stable-diffusion-1-5%2Creplicate_stable-diffusion-2-1%2Creplicate_stable-diffusion-3-5-large%2Cstabilityai_stable-diffusion-3-5-large%2Cfireworks_stable-diffusion-3-5-medium%2Cleonardo_stable-diffusion-xl-1-0%2Cvidu_vidu_q2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lllo/BakingAgen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6C4118A-B523-45D9-B427-8E05B2DE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2590" y="1090589"/>
            <a:ext cx="2509919" cy="3346901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/>
              <a:t>Offline</a:t>
            </a:r>
            <a:br>
              <a:rPr lang="en-US" sz="5200" dirty="0"/>
            </a:br>
            <a:r>
              <a:rPr lang="en-US" sz="5200" dirty="0"/>
              <a:t>Baking</a:t>
            </a:r>
            <a:br>
              <a:rPr lang="en-US" sz="5200" dirty="0"/>
            </a:br>
            <a:r>
              <a:rPr lang="en-US" sz="5200" dirty="0"/>
              <a:t>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2590" y="4601687"/>
            <a:ext cx="2509919" cy="1189513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Aptos"/>
              </a:rPr>
              <a:t>Manuel Naujoks</a:t>
            </a:r>
          </a:p>
        </p:txBody>
      </p:sp>
      <p:pic>
        <p:nvPicPr>
          <p:cNvPr id="5" name="Picture 4" descr="aerial view of various Christmas cookies on blue background">
            <a:extLst>
              <a:ext uri="{FF2B5EF4-FFF2-40B4-BE49-F238E27FC236}">
                <a16:creationId xmlns:a16="http://schemas.microsoft.com/office/drawing/2014/main" id="{0EA694D7-4CE8-7A8A-ABCD-B5025FCF6C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6095999" y="10"/>
            <a:ext cx="610565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5A1D2-ADA5-8899-7506-98F7F516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DE" sz="4000"/>
              <a:t>How to bake?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0AF9-20B4-B9F0-058D-F7EF3B89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943482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GB" sz="2400" dirty="0"/>
              <a:t>Reading grandma's handwritten recipe 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DeepSeek-OCR</a:t>
            </a:r>
          </a:p>
          <a:p>
            <a:pPr marL="457200" indent="-45720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GB" sz="2400" dirty="0"/>
              <a:t>Understanding the recipe and orchestrating the process 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Qwen 3</a:t>
            </a:r>
          </a:p>
          <a:p>
            <a:pPr marL="457200" indent="-45720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GB" sz="2400" dirty="0"/>
              <a:t>Checking your pantry inventory and ordering missing ingredients 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MCP</a:t>
            </a:r>
          </a:p>
          <a:p>
            <a:pPr marL="457200" indent="-45720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GB" sz="2400" dirty="0"/>
              <a:t>Guiding you through each step with timers and visual aids 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AG-UI</a:t>
            </a:r>
          </a:p>
          <a:p>
            <a:pPr marL="457200" indent="-45720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GB" sz="2400" dirty="0"/>
              <a:t>Baking the result </a:t>
            </a:r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FLUX.1-schnell</a:t>
            </a:r>
            <a:endParaRPr lang="en-DE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7" name="Picture 36" descr="Baking ingredients on a table">
            <a:extLst>
              <a:ext uri="{FF2B5EF4-FFF2-40B4-BE49-F238E27FC236}">
                <a16:creationId xmlns:a16="http://schemas.microsoft.com/office/drawing/2014/main" id="{75E45128-6083-5F4A-00C3-56A668BC8C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9485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CB52-2852-2A1C-B7FF-A3709A3B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recipe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406085A-140F-A489-4F77-F631C152B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7871847" cy="472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3C4A74-42F4-516C-BB80-90473794D7D8}"/>
              </a:ext>
            </a:extLst>
          </p:cNvPr>
          <p:cNvSpPr txBox="1"/>
          <p:nvPr/>
        </p:nvSpPr>
        <p:spPr>
          <a:xfrm>
            <a:off x="0" y="6611779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>
                <a:hlinkClick r:id="rId3"/>
              </a:rPr>
              <a:t>https://www.pinterest.com/pin/old-fashioned-gingerbread-cookies-recipe--12736811433094405/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394937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C1725E0-5562-F7E4-D1CF-2F83EAA6BF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06320" y="807664"/>
            <a:ext cx="6785680" cy="580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487F9D-A4C9-FC18-CBB5-7AF94DB4D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Deepseek-OCR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7C811B-112C-83F9-DB64-027E8FF4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8721" cy="4351338"/>
          </a:xfrm>
        </p:spPr>
        <p:txBody>
          <a:bodyPr>
            <a:normAutofit/>
          </a:bodyPr>
          <a:lstStyle/>
          <a:p>
            <a:r>
              <a:rPr lang="en-DE" sz="2400" dirty="0"/>
              <a:t>Context Optical Compression</a:t>
            </a:r>
          </a:p>
          <a:p>
            <a:r>
              <a:rPr lang="en-GB" sz="2400" dirty="0"/>
              <a:t>F</a:t>
            </a:r>
            <a:r>
              <a:rPr lang="en-DE" sz="2400" dirty="0"/>
              <a:t>ull-page ~256 vision tokens</a:t>
            </a:r>
          </a:p>
          <a:p>
            <a:r>
              <a:rPr lang="en-DE" sz="2400" dirty="0"/>
              <a:t>Layout preservation (tables, …)</a:t>
            </a:r>
          </a:p>
          <a:p>
            <a:r>
              <a:rPr lang="en-DE" sz="2400" dirty="0"/>
              <a:t>Output Markdown/Latex</a:t>
            </a:r>
          </a:p>
          <a:p>
            <a:r>
              <a:rPr lang="en-DE" sz="2400" dirty="0"/>
              <a:t>Hybrid Vision Transformer</a:t>
            </a:r>
            <a:r>
              <a:rPr lang="en-DE" sz="1100" dirty="0"/>
              <a:t> (SAM &amp; CLIP)</a:t>
            </a:r>
          </a:p>
          <a:p>
            <a:r>
              <a:rPr lang="en-DE" sz="2400" dirty="0"/>
              <a:t>3B MoE Decoder</a:t>
            </a:r>
          </a:p>
          <a:p>
            <a:r>
              <a:rPr lang="en-DE" sz="2400" dirty="0"/>
              <a:t>2-3x faster than Tesseract</a:t>
            </a:r>
          </a:p>
          <a:p>
            <a:r>
              <a:rPr lang="en-DE" sz="2400" dirty="0"/>
              <a:t>87% on OmniDocBench</a:t>
            </a:r>
          </a:p>
          <a:p>
            <a:r>
              <a:rPr lang="en-DE" sz="2400" dirty="0"/>
              <a:t>MIT License</a:t>
            </a:r>
            <a:endParaRPr lang="en-D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D6282-F368-9CF5-0746-5A5CD880B39A}"/>
              </a:ext>
            </a:extLst>
          </p:cNvPr>
          <p:cNvSpPr txBox="1"/>
          <p:nvPr/>
        </p:nvSpPr>
        <p:spPr>
          <a:xfrm>
            <a:off x="9112311" y="6611779"/>
            <a:ext cx="3079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hlinkClick r:id="rId3"/>
              </a:rPr>
              <a:t>https://huggingface.co/deepseek-ai/DeepSeek-OCR</a:t>
            </a:r>
            <a:endParaRPr lang="en-DE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0368B-32DB-319C-938F-DDFA2CE0F023}"/>
              </a:ext>
            </a:extLst>
          </p:cNvPr>
          <p:cNvSpPr txBox="1"/>
          <p:nvPr/>
        </p:nvSpPr>
        <p:spPr>
          <a:xfrm>
            <a:off x="0" y="6611778"/>
            <a:ext cx="71849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hlinkClick r:id="rId4"/>
              </a:rPr>
              <a:t>https://moazharu.medium.com/deepseek-ocr-a-deep-dive-into-architecture-and-context-optical-compression-dc65778d0f33</a:t>
            </a:r>
            <a:endParaRPr lang="en-DE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43C44C-954E-7692-46E2-822E30BD1F08}"/>
              </a:ext>
            </a:extLst>
          </p:cNvPr>
          <p:cNvCxnSpPr/>
          <p:nvPr/>
        </p:nvCxnSpPr>
        <p:spPr>
          <a:xfrm flipH="1">
            <a:off x="9824224" y="245327"/>
            <a:ext cx="827931" cy="1193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49C9FE-3646-3EC8-CA39-4BB71ADDAC52}"/>
              </a:ext>
            </a:extLst>
          </p:cNvPr>
          <p:cNvCxnSpPr>
            <a:cxnSpLocks/>
          </p:cNvCxnSpPr>
          <p:nvPr/>
        </p:nvCxnSpPr>
        <p:spPr>
          <a:xfrm>
            <a:off x="10804555" y="397727"/>
            <a:ext cx="486102" cy="1160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BB58B0-E0F9-5A0E-E2A4-FAE62E1BC4AD}"/>
              </a:ext>
            </a:extLst>
          </p:cNvPr>
          <p:cNvCxnSpPr>
            <a:cxnSpLocks/>
          </p:cNvCxnSpPr>
          <p:nvPr/>
        </p:nvCxnSpPr>
        <p:spPr>
          <a:xfrm>
            <a:off x="10956955" y="550127"/>
            <a:ext cx="874489" cy="1583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49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C1DA-5EEF-6505-44E6-0BF32614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Deepseek-OCR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E04A-A13B-D524-32FD-20A495E91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672" y="1690689"/>
            <a:ext cx="5909327" cy="480218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&lt;|ref|&gt;table&lt;|/ref|&gt;&lt;|det|&gt;[[18, 72, 985, 643]]&lt;|/det|&gt;</a:t>
            </a:r>
          </a:p>
          <a:p>
            <a:r>
              <a:rPr lang="en-GB" dirty="0"/>
              <a:t>&lt;table&gt;&lt;tr&gt;&lt;td&gt;Old Fashioned Gingerbread&lt;/td&gt;&lt;td&gt;350° oven&lt;/td&gt;&lt;/tr&gt;&lt;tr&gt;&lt;td&gt;½ cup shortening&lt;/td&gt;&lt;td&gt;3/4 tsp. salt&lt;/td&gt;&lt;/tr&gt;&lt;tr&gt;&lt;td&gt;¼ cup honey&lt;/td&gt;&lt;td&gt;3/4 tsp. soda&lt;/td&gt;&lt;/tr&gt;&lt;tr&gt;&lt;td&gt;1 egg&lt;/td&gt;&lt;td&gt;½ tsp. ground ginger&lt;/td&gt;&lt;/tr&gt;&lt;tr&gt;&lt;td&gt;½ cup molasses&lt;/td&gt;&lt;td&gt;½ tsp. ground cinnamon&lt;/td&gt;&lt;/tr&gt;&lt;tr&gt;&lt;td&gt;1/2 cups whole wh. flour&lt;/td&gt;&lt;td&gt;½ cup boiling water&lt;/td&gt;&lt;/tr&gt;&lt;/table&gt;</a:t>
            </a:r>
          </a:p>
          <a:p>
            <a:r>
              <a:rPr lang="en-GB" dirty="0"/>
              <a:t>&lt;|ref|&gt;text&lt;|/ref|&gt;&lt;|det|&gt;[[18, 610, 975, 959]]&lt;|/det|&gt;</a:t>
            </a:r>
          </a:p>
          <a:p>
            <a:r>
              <a:rPr lang="en-GB" dirty="0"/>
              <a:t>Cream shortening and honey till light. Add egg and molasses; beat thoroughly, - Sift together dry ingredients. Add to creamed mixture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1746BA-4D19-1986-2FDE-F34D02B0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6347063" cy="380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AE23DC-EC5F-460F-1D50-6CADC5B37461}"/>
              </a:ext>
            </a:extLst>
          </p:cNvPr>
          <p:cNvSpPr txBox="1"/>
          <p:nvPr/>
        </p:nvSpPr>
        <p:spPr>
          <a:xfrm>
            <a:off x="0" y="6488668"/>
            <a:ext cx="955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ollama</a:t>
            </a:r>
            <a:r>
              <a:rPr lang="en-GB" dirty="0"/>
              <a:t> run </a:t>
            </a:r>
            <a:r>
              <a:rPr lang="en-GB" dirty="0" err="1"/>
              <a:t>deepseek-ocr</a:t>
            </a:r>
            <a:r>
              <a:rPr lang="en-GB" dirty="0"/>
              <a:t> "/path/to/image\n&lt;|grounding|&gt;Convert the document to markdown."</a:t>
            </a:r>
          </a:p>
        </p:txBody>
      </p:sp>
    </p:spTree>
    <p:extLst>
      <p:ext uri="{BB962C8B-B14F-4D97-AF65-F5344CB8AC3E}">
        <p14:creationId xmlns:p14="http://schemas.microsoft.com/office/powerpoint/2010/main" val="23272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258AF-B5E7-1583-06B5-66C02BC0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DE" sz="4000"/>
              <a:t>The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4D31D-4E91-5F6B-3F3A-1202B0371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r>
              <a:rPr lang="en-GB" sz="2400" dirty="0"/>
              <a:t>Reading and interpreting the recipe</a:t>
            </a:r>
          </a:p>
          <a:p>
            <a:r>
              <a:rPr lang="en-GB" sz="2400" dirty="0"/>
              <a:t>Breaking down into sequential steps</a:t>
            </a:r>
          </a:p>
          <a:p>
            <a:r>
              <a:rPr lang="en-GB" sz="2400" dirty="0"/>
              <a:t>Selecting the right tools for each action</a:t>
            </a:r>
          </a:p>
          <a:p>
            <a:r>
              <a:rPr lang="en-GB" sz="2400" dirty="0"/>
              <a:t>Executing steps in proper order</a:t>
            </a:r>
          </a:p>
          <a:p>
            <a:r>
              <a:rPr lang="en-GB" sz="2400" dirty="0"/>
              <a:t>Adapting to available ingredients and conditions</a:t>
            </a:r>
          </a:p>
          <a:p>
            <a:r>
              <a:rPr lang="en-GB" sz="2400" dirty="0"/>
              <a:t>Making decisions based on progress</a:t>
            </a:r>
          </a:p>
          <a:p>
            <a:r>
              <a:rPr lang="en-GB" sz="2400" dirty="0"/>
              <a:t>Refining the approach for future bakes</a:t>
            </a:r>
            <a:endParaRPr lang="en-DE" sz="2400" dirty="0"/>
          </a:p>
        </p:txBody>
      </p:sp>
      <p:pic>
        <p:nvPicPr>
          <p:cNvPr id="5" name="Picture 4" descr="Person baking Christmas treats">
            <a:extLst>
              <a:ext uri="{FF2B5EF4-FFF2-40B4-BE49-F238E27FC236}">
                <a16:creationId xmlns:a16="http://schemas.microsoft.com/office/drawing/2014/main" id="{18B798B5-95B7-2590-25B5-371E32D326B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231053-EE24-186C-990B-267631772322}"/>
              </a:ext>
            </a:extLst>
          </p:cNvPr>
          <p:cNvSpPr txBox="1"/>
          <p:nvPr/>
        </p:nvSpPr>
        <p:spPr>
          <a:xfrm>
            <a:off x="0" y="6611360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dirty="0"/>
              <a:t>Claude Sonnet 4.5</a:t>
            </a:r>
            <a:endParaRPr lang="en-DE" sz="1000"/>
          </a:p>
        </p:txBody>
      </p:sp>
    </p:spTree>
    <p:extLst>
      <p:ext uri="{BB962C8B-B14F-4D97-AF65-F5344CB8AC3E}">
        <p14:creationId xmlns:p14="http://schemas.microsoft.com/office/powerpoint/2010/main" val="411476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767B-C4A8-DF74-24F7-89900C22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Qwen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7B249-A7EB-9688-299D-2AFBC7B9E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3966" cy="4351338"/>
          </a:xfrm>
        </p:spPr>
        <p:txBody>
          <a:bodyPr/>
          <a:lstStyle/>
          <a:p>
            <a:r>
              <a:rPr lang="en-GB" dirty="0"/>
              <a:t>Open Weights by Alibaba Cloud</a:t>
            </a:r>
          </a:p>
          <a:p>
            <a:r>
              <a:rPr lang="en-GB" dirty="0"/>
              <a:t>Seamless switching between thinking mode and non-thinking mode</a:t>
            </a:r>
          </a:p>
          <a:p>
            <a:r>
              <a:rPr lang="en-GB" dirty="0"/>
              <a:t>Tool use</a:t>
            </a:r>
          </a:p>
          <a:p>
            <a:r>
              <a:rPr lang="en-GB" dirty="0"/>
              <a:t>Supports 100+ languages and dialects</a:t>
            </a:r>
          </a:p>
          <a:p>
            <a:r>
              <a:rPr lang="en-GB" dirty="0"/>
              <a:t>Multi modal (text, image, audio, video via Qwen 3 Omni)</a:t>
            </a:r>
          </a:p>
          <a:p>
            <a:r>
              <a:rPr lang="en-GB" dirty="0"/>
              <a:t>89% on </a:t>
            </a:r>
            <a:r>
              <a:rPr lang="en-GB" dirty="0" err="1"/>
              <a:t>OmniDocBench</a:t>
            </a:r>
            <a:r>
              <a:rPr lang="en-GB" dirty="0"/>
              <a:t> (Qwen3-VL-235B-A22B-Instruct)</a:t>
            </a:r>
          </a:p>
          <a:p>
            <a:r>
              <a:rPr lang="en-GB" dirty="0"/>
              <a:t>Apache-2.0 license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438D0-04C2-E06D-21D4-31DECA064E27}"/>
              </a:ext>
            </a:extLst>
          </p:cNvPr>
          <p:cNvSpPr txBox="1"/>
          <p:nvPr/>
        </p:nvSpPr>
        <p:spPr>
          <a:xfrm>
            <a:off x="0" y="6611779"/>
            <a:ext cx="26484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>
                <a:hlinkClick r:id="rId2"/>
              </a:rPr>
              <a:t>https://huggingface.co/Qwen/Qwen3-32B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247156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37F111-5078-3FE1-FD18-5380CB754057}"/>
              </a:ext>
            </a:extLst>
          </p:cNvPr>
          <p:cNvSpPr txBox="1"/>
          <p:nvPr/>
        </p:nvSpPr>
        <p:spPr>
          <a:xfrm>
            <a:off x="0" y="6611779"/>
            <a:ext cx="84289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hlinkClick r:id="rId2"/>
              </a:rPr>
              <a:t>https://artificialanalysis.ai/?models=deepseek-ocr%2Cqwen3-235b-a22b-instruct-2507-reasoning&amp;intelligence=artificial-analysis-intelligence-index</a:t>
            </a:r>
            <a:endParaRPr lang="en-DE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4CDC1D-BD0C-997E-FC2B-4A20439315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699916"/>
            <a:ext cx="12192000" cy="4900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51B9FD-F416-AC49-C668-37897AFB2B80}"/>
              </a:ext>
            </a:extLst>
          </p:cNvPr>
          <p:cNvSpPr/>
          <p:nvPr/>
        </p:nvSpPr>
        <p:spPr>
          <a:xfrm>
            <a:off x="7761248" y="390293"/>
            <a:ext cx="4430751" cy="1516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D73CA2-6AB5-D4B8-0B5D-61A1DF9322B0}"/>
              </a:ext>
            </a:extLst>
          </p:cNvPr>
          <p:cNvSpPr txBox="1"/>
          <p:nvPr/>
        </p:nvSpPr>
        <p:spPr>
          <a:xfrm>
            <a:off x="9222564" y="1601807"/>
            <a:ext cx="870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Qwen3</a:t>
            </a:r>
            <a:endParaRPr lang="en-DE" sz="11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B20750-083B-76B9-9FDA-324AD9F38DB3}"/>
              </a:ext>
            </a:extLst>
          </p:cNvPr>
          <p:cNvCxnSpPr>
            <a:cxnSpLocks/>
          </p:cNvCxnSpPr>
          <p:nvPr/>
        </p:nvCxnSpPr>
        <p:spPr>
          <a:xfrm>
            <a:off x="9497121" y="1863417"/>
            <a:ext cx="0" cy="1370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28E965-B436-82CC-6E24-AB5894C835C2}"/>
              </a:ext>
            </a:extLst>
          </p:cNvPr>
          <p:cNvSpPr txBox="1"/>
          <p:nvPr/>
        </p:nvSpPr>
        <p:spPr>
          <a:xfrm>
            <a:off x="7185779" y="1601807"/>
            <a:ext cx="870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o1</a:t>
            </a:r>
            <a:endParaRPr lang="en-DE" sz="11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EBB11-247E-213E-1A60-419E55BDDC56}"/>
              </a:ext>
            </a:extLst>
          </p:cNvPr>
          <p:cNvCxnSpPr>
            <a:cxnSpLocks/>
          </p:cNvCxnSpPr>
          <p:nvPr/>
        </p:nvCxnSpPr>
        <p:spPr>
          <a:xfrm>
            <a:off x="7363521" y="1863417"/>
            <a:ext cx="0" cy="1286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99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D5344-E605-52F4-1A20-61BAA403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1BA96F-8163-16BB-4324-188EEE7F5948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hlinkClick r:id="rId2"/>
              </a:rPr>
              <a:t>https://artificialanalysis.ai/?models=gpt-5-1%2Cclaude-opus-4-5-thinking%2Cclaude-4-5-sonnet-thinking%2Cdeepseek-ocr%2Cdeepseek-v3-2-reasoning%2Cqwen3-vl-235b-a22b-reasoning%2Cqwen3-vl-32b-reasoning%2Cqwen3-235b-a22b-instruct-2507-reasoning%2Cqwen3-vl-4b-</a:t>
            </a:r>
            <a:endParaRPr lang="en-DE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18786-A3B0-43F0-B94A-BD0EC15C6E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68152"/>
            <a:ext cx="12192000" cy="44537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E3F853-43D1-CEA2-DD2B-F1C2C3B769D7}"/>
              </a:ext>
            </a:extLst>
          </p:cNvPr>
          <p:cNvSpPr/>
          <p:nvPr/>
        </p:nvSpPr>
        <p:spPr>
          <a:xfrm>
            <a:off x="7281746" y="390293"/>
            <a:ext cx="4910254" cy="1516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B9AAF4-6775-2722-E031-AE18FEF5BC56}"/>
              </a:ext>
            </a:extLst>
          </p:cNvPr>
          <p:cNvCxnSpPr>
            <a:cxnSpLocks/>
          </p:cNvCxnSpPr>
          <p:nvPr/>
        </p:nvCxnSpPr>
        <p:spPr>
          <a:xfrm>
            <a:off x="7014116" y="2264643"/>
            <a:ext cx="0" cy="635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50BB6D9-213E-9DA2-0ABF-00509ADCFCC0}"/>
              </a:ext>
            </a:extLst>
          </p:cNvPr>
          <p:cNvSpPr txBox="1"/>
          <p:nvPr/>
        </p:nvSpPr>
        <p:spPr>
          <a:xfrm>
            <a:off x="6598777" y="2023108"/>
            <a:ext cx="8306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Q4 = </a:t>
            </a:r>
            <a:r>
              <a:rPr lang="en-DE" sz="1100" dirty="0"/>
              <a:t>20GB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63021-659A-203F-61E4-42268718C17B}"/>
              </a:ext>
            </a:extLst>
          </p:cNvPr>
          <p:cNvSpPr txBox="1"/>
          <p:nvPr/>
        </p:nvSpPr>
        <p:spPr>
          <a:xfrm>
            <a:off x="10109960" y="2026744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Q4 = </a:t>
            </a:r>
            <a:r>
              <a:rPr lang="en-DE" sz="1100" dirty="0"/>
              <a:t>2.5GB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401BEC-D6C8-63FF-E7C7-555F821F136C}"/>
              </a:ext>
            </a:extLst>
          </p:cNvPr>
          <p:cNvCxnSpPr>
            <a:cxnSpLocks/>
          </p:cNvCxnSpPr>
          <p:nvPr/>
        </p:nvCxnSpPr>
        <p:spPr>
          <a:xfrm>
            <a:off x="10545336" y="2264643"/>
            <a:ext cx="0" cy="1139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402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564C5-7547-EDA7-6CC8-B65454C58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DE" sz="4000" dirty="0"/>
              <a:t>The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7148A-4931-1B8E-277E-DEE76A5B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9" y="2405067"/>
            <a:ext cx="6359711" cy="4034922"/>
          </a:xfrm>
        </p:spPr>
        <p:txBody>
          <a:bodyPr>
            <a:noAutofit/>
          </a:bodyPr>
          <a:lstStyle/>
          <a:p>
            <a:r>
              <a:rPr lang="en-GB" sz="2400" dirty="0"/>
              <a:t>Checking ingredient availability in the pantry</a:t>
            </a:r>
          </a:p>
          <a:p>
            <a:r>
              <a:rPr lang="en-GB" sz="2400" dirty="0"/>
              <a:t>Ordering missing ingredients from the store</a:t>
            </a:r>
          </a:p>
          <a:p>
            <a:r>
              <a:rPr lang="en-GB" sz="2400" dirty="0"/>
              <a:t>Measuring precise amounts with scales</a:t>
            </a:r>
          </a:p>
          <a:p>
            <a:r>
              <a:rPr lang="en-GB" sz="2400" dirty="0"/>
              <a:t>Mixing ingredients in the right sequence</a:t>
            </a:r>
          </a:p>
          <a:p>
            <a:r>
              <a:rPr lang="en-GB" sz="2400" dirty="0"/>
              <a:t>Preheating the oven to exact temperature</a:t>
            </a:r>
          </a:p>
          <a:p>
            <a:r>
              <a:rPr lang="en-GB" sz="2400" dirty="0"/>
              <a:t>Setting timers for each baking stage</a:t>
            </a:r>
          </a:p>
          <a:p>
            <a:r>
              <a:rPr lang="en-GB" sz="2400" dirty="0"/>
              <a:t>Cooling on a rack at room temperature</a:t>
            </a:r>
            <a:endParaRPr lang="en-DE" sz="2400" dirty="0"/>
          </a:p>
        </p:txBody>
      </p:sp>
      <p:pic>
        <p:nvPicPr>
          <p:cNvPr id="21" name="Picture 20" descr="Whisk in bowl with eggs and flour">
            <a:extLst>
              <a:ext uri="{FF2B5EF4-FFF2-40B4-BE49-F238E27FC236}">
                <a16:creationId xmlns:a16="http://schemas.microsoft.com/office/drawing/2014/main" id="{0DB00B29-AF08-23D8-8FA4-2E83E6D2312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B2C61B-64F3-F1DE-D3C9-E80A66A98111}"/>
              </a:ext>
            </a:extLst>
          </p:cNvPr>
          <p:cNvSpPr txBox="1"/>
          <p:nvPr/>
        </p:nvSpPr>
        <p:spPr>
          <a:xfrm>
            <a:off x="0" y="6611360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Claude Sonnet 4.5</a:t>
            </a:r>
            <a:endParaRPr lang="en-DE" sz="1000"/>
          </a:p>
        </p:txBody>
      </p:sp>
    </p:spTree>
    <p:extLst>
      <p:ext uri="{BB962C8B-B14F-4D97-AF65-F5344CB8AC3E}">
        <p14:creationId xmlns:p14="http://schemas.microsoft.com/office/powerpoint/2010/main" val="213891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A506-0032-EBF4-987F-5B98E96C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Model Context Protocol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A90CFD-FBD4-A6E4-9BF3-B35417FF6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12192000" cy="371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CE62B8-9DE2-564E-B239-FB8B76FF62C8}"/>
              </a:ext>
            </a:extLst>
          </p:cNvPr>
          <p:cNvSpPr txBox="1"/>
          <p:nvPr/>
        </p:nvSpPr>
        <p:spPr>
          <a:xfrm>
            <a:off x="0" y="6611360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>
                <a:hlinkClick r:id="rId3"/>
              </a:rPr>
              <a:t>https://modelcontextprotocol.io/docs/getting-started/intro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311767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22C9A-2823-6F57-BE00-224C35F5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DE" sz="4000" dirty="0"/>
              <a:t>The 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12A4-A1F2-0136-6DB3-E841C3CA3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9" y="2405067"/>
            <a:ext cx="6359711" cy="3729034"/>
          </a:xfrm>
        </p:spPr>
        <p:txBody>
          <a:bodyPr>
            <a:normAutofit/>
          </a:bodyPr>
          <a:lstStyle/>
          <a:p>
            <a:r>
              <a:rPr lang="en-GB" sz="2400" dirty="0"/>
              <a:t>Driving the process from start to finish</a:t>
            </a:r>
          </a:p>
          <a:p>
            <a:r>
              <a:rPr lang="en-GB" sz="2400" dirty="0"/>
              <a:t>Observing tool use in real-time</a:t>
            </a:r>
          </a:p>
          <a:p>
            <a:r>
              <a:rPr lang="en-GB" sz="2400" dirty="0"/>
              <a:t>Monitoring inputs and outputs at each step</a:t>
            </a:r>
          </a:p>
          <a:p>
            <a:r>
              <a:rPr lang="en-GB" sz="2400" dirty="0"/>
              <a:t>Keeping the human in the loop</a:t>
            </a:r>
          </a:p>
          <a:p>
            <a:r>
              <a:rPr lang="en-GB" sz="2400" dirty="0"/>
              <a:t>Providing feedback and corrections</a:t>
            </a:r>
          </a:p>
          <a:p>
            <a:r>
              <a:rPr lang="en-GB" sz="2400" dirty="0"/>
              <a:t>Confirming before critical actions</a:t>
            </a:r>
            <a:endParaRPr lang="en-DE" sz="2400" dirty="0"/>
          </a:p>
        </p:txBody>
      </p:sp>
      <p:pic>
        <p:nvPicPr>
          <p:cNvPr id="6" name="Picture 5" descr="Person cutting gingerbread cookies">
            <a:extLst>
              <a:ext uri="{FF2B5EF4-FFF2-40B4-BE49-F238E27FC236}">
                <a16:creationId xmlns:a16="http://schemas.microsoft.com/office/drawing/2014/main" id="{38A97D80-691D-C23C-6791-927943EE08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954A4F-6A02-7555-5E7B-A6823BBD39F2}"/>
              </a:ext>
            </a:extLst>
          </p:cNvPr>
          <p:cNvSpPr txBox="1"/>
          <p:nvPr/>
        </p:nvSpPr>
        <p:spPr>
          <a:xfrm>
            <a:off x="0" y="6611360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dirty="0"/>
              <a:t>Claude Sonnet 4.5</a:t>
            </a:r>
            <a:endParaRPr lang="en-DE" sz="1000"/>
          </a:p>
        </p:txBody>
      </p:sp>
    </p:spTree>
    <p:extLst>
      <p:ext uri="{BB962C8B-B14F-4D97-AF65-F5344CB8AC3E}">
        <p14:creationId xmlns:p14="http://schemas.microsoft.com/office/powerpoint/2010/main" val="267945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53A3-0B66-946F-4381-F3F6313F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AG-UI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3AC99-D47F-DBD8-E746-6C4FA794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2897"/>
            <a:ext cx="12192000" cy="51816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90E4CE-734E-D59A-425D-A10A789B693D}"/>
              </a:ext>
            </a:extLst>
          </p:cNvPr>
          <p:cNvSpPr txBox="1"/>
          <p:nvPr/>
        </p:nvSpPr>
        <p:spPr>
          <a:xfrm>
            <a:off x="0" y="6611360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3"/>
              </a:rPr>
              <a:t>https://github.com/ag-ui-protocol/ag-ui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559513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B07D3-A92D-FD9F-DFD1-4BF91EDD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DE" sz="4000"/>
              <a:t>The oven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8BFC6-1B03-A72C-6B4A-AA2A77608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9" y="2416629"/>
            <a:ext cx="6359711" cy="3971108"/>
          </a:xfrm>
        </p:spPr>
        <p:txBody>
          <a:bodyPr>
            <a:normAutofit/>
          </a:bodyPr>
          <a:lstStyle/>
          <a:p>
            <a:r>
              <a:rPr lang="en-GB" sz="2400" dirty="0"/>
              <a:t>Protein Denaturation</a:t>
            </a:r>
          </a:p>
          <a:p>
            <a:r>
              <a:rPr lang="en-GB" sz="2400" dirty="0"/>
              <a:t>Starch Gelatinization</a:t>
            </a:r>
          </a:p>
          <a:p>
            <a:r>
              <a:rPr lang="en-GB" sz="2400" dirty="0"/>
              <a:t>Maillard Reaction</a:t>
            </a:r>
          </a:p>
          <a:p>
            <a:r>
              <a:rPr lang="en-GB" sz="2400" dirty="0"/>
              <a:t>Caramelization</a:t>
            </a:r>
          </a:p>
          <a:p>
            <a:r>
              <a:rPr lang="en-GB" sz="2400" dirty="0"/>
              <a:t>Leavening Gas Expansion</a:t>
            </a:r>
          </a:p>
          <a:p>
            <a:r>
              <a:rPr lang="en-GB" sz="2400" dirty="0"/>
              <a:t>Water Evaporation</a:t>
            </a:r>
          </a:p>
          <a:p>
            <a:r>
              <a:rPr lang="en-GB" sz="2400" dirty="0"/>
              <a:t>Fat Melting</a:t>
            </a:r>
            <a:endParaRPr lang="en-DE" sz="2400" dirty="0"/>
          </a:p>
        </p:txBody>
      </p:sp>
      <p:pic>
        <p:nvPicPr>
          <p:cNvPr id="10" name="Picture 9" descr="Man putting food into oven">
            <a:extLst>
              <a:ext uri="{FF2B5EF4-FFF2-40B4-BE49-F238E27FC236}">
                <a16:creationId xmlns:a16="http://schemas.microsoft.com/office/drawing/2014/main" id="{E5218750-801B-F99F-3470-3500C6D584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EA7DCF-CACF-E7BB-7EFB-085A12D9CDB3}"/>
              </a:ext>
            </a:extLst>
          </p:cNvPr>
          <p:cNvSpPr txBox="1"/>
          <p:nvPr/>
        </p:nvSpPr>
        <p:spPr>
          <a:xfrm>
            <a:off x="0" y="6611360"/>
            <a:ext cx="6098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dirty="0"/>
              <a:t>Claude Sonnet 4.5</a:t>
            </a:r>
            <a:endParaRPr lang="en-DE" sz="1000"/>
          </a:p>
        </p:txBody>
      </p:sp>
    </p:spTree>
    <p:extLst>
      <p:ext uri="{BB962C8B-B14F-4D97-AF65-F5344CB8AC3E}">
        <p14:creationId xmlns:p14="http://schemas.microsoft.com/office/powerpoint/2010/main" val="2356069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336B-02DA-7605-A2DD-733276E2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FLUX.1-schnell</a:t>
            </a:r>
            <a:endParaRPr lang="en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F4C309-FB07-6A56-6790-9236C1F77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Text-to-image</a:t>
            </a:r>
          </a:p>
          <a:p>
            <a:r>
              <a:rPr lang="en-GB" dirty="0"/>
              <a:t>12 billion parameters rectified flow transformer</a:t>
            </a:r>
          </a:p>
          <a:p>
            <a:r>
              <a:rPr lang="en-GB" dirty="0"/>
              <a:t>Cutting-edge output quality and competitive prompt following</a:t>
            </a:r>
          </a:p>
          <a:p>
            <a:r>
              <a:rPr lang="en-GB" dirty="0"/>
              <a:t>Can generate high-quality images in only 1 to 4 steps</a:t>
            </a:r>
          </a:p>
          <a:p>
            <a:r>
              <a:rPr lang="en-GB" dirty="0"/>
              <a:t>Open source under Apache-2.0 license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F5556-331D-5E88-7ED4-F5496C20F340}"/>
              </a:ext>
            </a:extLst>
          </p:cNvPr>
          <p:cNvSpPr txBox="1"/>
          <p:nvPr/>
        </p:nvSpPr>
        <p:spPr>
          <a:xfrm>
            <a:off x="-2582" y="6488668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hlinkClick r:id="rId2"/>
              </a:rPr>
              <a:t>https://huggingface.co/black-forest-labs/FLUX.1-schnell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36050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11A9-0685-28A9-7174-CEF2841C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BEDFAE-1537-A3B7-0FAF-BC1369290A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23" y="945396"/>
            <a:ext cx="12193723" cy="4220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726996-C0D7-FD59-0AEE-FF7653FE93AF}"/>
              </a:ext>
            </a:extLst>
          </p:cNvPr>
          <p:cNvSpPr txBox="1"/>
          <p:nvPr/>
        </p:nvSpPr>
        <p:spPr>
          <a:xfrm>
            <a:off x="0" y="6457890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3"/>
              </a:rPr>
              <a:t>https://artificialanalysis.ai/image/models?host-models=amazon-bedrock_amazon-titan-v1-standard%2Camazon-bedrock_amazon-titan-v2-standard%2Copenai_dalle-3-hd%2Cprodia_flux-1-dev_fast%2Cblack-forest-labs_flux1-dev%2Cfireworks.ai_flux-1-schnell%2Cblack-fores</a:t>
            </a:r>
            <a:endParaRPr lang="en-DE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70939-82E7-ADAC-9317-CCBF4F3E0DA8}"/>
              </a:ext>
            </a:extLst>
          </p:cNvPr>
          <p:cNvSpPr/>
          <p:nvPr/>
        </p:nvSpPr>
        <p:spPr>
          <a:xfrm>
            <a:off x="7795647" y="687321"/>
            <a:ext cx="4396353" cy="136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EED44-DDD1-6000-3A93-44210186C561}"/>
              </a:ext>
            </a:extLst>
          </p:cNvPr>
          <p:cNvSpPr txBox="1"/>
          <p:nvPr/>
        </p:nvSpPr>
        <p:spPr>
          <a:xfrm>
            <a:off x="6519400" y="5424375"/>
            <a:ext cx="5196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24GB</a:t>
            </a:r>
            <a:endParaRPr lang="en-DE" sz="11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44CF5E-E200-DF08-AE1F-19FB8C36E908}"/>
              </a:ext>
            </a:extLst>
          </p:cNvPr>
          <p:cNvCxnSpPr>
            <a:cxnSpLocks/>
          </p:cNvCxnSpPr>
          <p:nvPr/>
        </p:nvCxnSpPr>
        <p:spPr>
          <a:xfrm flipV="1">
            <a:off x="6779247" y="4684660"/>
            <a:ext cx="0" cy="762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561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C517-0017-BF63-9A2B-19B380F5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AF248-DDC9-9F5B-8D10-2FC399E1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https://github.com/halllo/BakingAgent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64512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Christmas meal">
            <a:extLst>
              <a:ext uri="{FF2B5EF4-FFF2-40B4-BE49-F238E27FC236}">
                <a16:creationId xmlns:a16="http://schemas.microsoft.com/office/drawing/2014/main" id="{1513D13B-A0F5-3474-BBAD-FBB8DCE509A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6BF72-A6AE-1053-3117-9A37C0FD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50" y="2434201"/>
            <a:ext cx="4092701" cy="3742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DE" sz="3600" dirty="0"/>
              <a:t>Merry</a:t>
            </a:r>
          </a:p>
          <a:p>
            <a:pPr marL="0" indent="0" algn="ctr">
              <a:buNone/>
            </a:pPr>
            <a:r>
              <a:rPr lang="en-DE" sz="3600" dirty="0"/>
              <a:t>Christmas</a:t>
            </a:r>
          </a:p>
        </p:txBody>
      </p:sp>
    </p:spTree>
    <p:extLst>
      <p:ext uri="{BB962C8B-B14F-4D97-AF65-F5344CB8AC3E}">
        <p14:creationId xmlns:p14="http://schemas.microsoft.com/office/powerpoint/2010/main" val="1151122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307567-098e-4e59-964c-9ea203f3c9a2">
      <Terms xmlns="http://schemas.microsoft.com/office/infopath/2007/PartnerControls"/>
    </lcf76f155ced4ddcb4097134ff3c332f>
    <TaxCatchAll xmlns="e79cd62f-7c36-4c38-9242-4336c1888c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38CFE25C07E3D4B99E6B353E578529C" ma:contentTypeVersion="14" ma:contentTypeDescription="Ein neues Dokument erstellen." ma:contentTypeScope="" ma:versionID="f0f752cf0a016ff8d689e5080d3d98e7">
  <xsd:schema xmlns:xsd="http://www.w3.org/2001/XMLSchema" xmlns:xs="http://www.w3.org/2001/XMLSchema" xmlns:p="http://schemas.microsoft.com/office/2006/metadata/properties" xmlns:ns2="e79cd62f-7c36-4c38-9242-4336c1888cdb" xmlns:ns3="c9307567-098e-4e59-964c-9ea203f3c9a2" targetNamespace="http://schemas.microsoft.com/office/2006/metadata/properties" ma:root="true" ma:fieldsID="7f3f32de96f1e5a070bfd4e02ef9d214" ns2:_="" ns3:_="">
    <xsd:import namespace="e79cd62f-7c36-4c38-9242-4336c1888cdb"/>
    <xsd:import namespace="c9307567-098e-4e59-964c-9ea203f3c9a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9cd62f-7c36-4c38-9242-4336c1888cd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0b06f477-9e4a-4dbc-b784-bae7cac1f6dd}" ma:internalName="TaxCatchAll" ma:showField="CatchAllData" ma:web="e79cd62f-7c36-4c38-9242-4336c1888c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07567-098e-4e59-964c-9ea203f3c9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ab7120a8-c4e1-49f8-86ee-25b4ecb26a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82B6C4-F698-46CF-8112-5383C8A826D1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c9307567-098e-4e59-964c-9ea203f3c9a2"/>
    <ds:schemaRef ds:uri="http://schemas.microsoft.com/office/infopath/2007/PartnerControls"/>
    <ds:schemaRef ds:uri="e79cd62f-7c36-4c38-9242-4336c1888cdb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40BB0C8-2FE1-4028-985D-D6218835DA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218DC2-F539-4054-B655-A1EFFB3715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9cd62f-7c36-4c38-9242-4336c1888cdb"/>
    <ds:schemaRef ds:uri="c9307567-098e-4e59-964c-9ea203f3c9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</TotalTime>
  <Words>833</Words>
  <Application>Microsoft Macintosh PowerPoint</Application>
  <PresentationFormat>Widescreen</PresentationFormat>
  <Paragraphs>103</Paragraphs>
  <Slides>18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Offline Baking Agent</vt:lpstr>
      <vt:lpstr>How to bake?</vt:lpstr>
      <vt:lpstr>The recipe</vt:lpstr>
      <vt:lpstr>Deepseek-OCR</vt:lpstr>
      <vt:lpstr>Deepseek-OCR</vt:lpstr>
      <vt:lpstr>The process</vt:lpstr>
      <vt:lpstr>Qwen 3</vt:lpstr>
      <vt:lpstr>PowerPoint Presentation</vt:lpstr>
      <vt:lpstr>PowerPoint Presentation</vt:lpstr>
      <vt:lpstr>The tools</vt:lpstr>
      <vt:lpstr>Model Context Protocol</vt:lpstr>
      <vt:lpstr>The user interface</vt:lpstr>
      <vt:lpstr>AG-UI</vt:lpstr>
      <vt:lpstr>The oven</vt:lpstr>
      <vt:lpstr>FLUX.1-schnell</vt:lpstr>
      <vt:lpstr>PowerPoint Presentation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Manuel Naujoks</cp:lastModifiedBy>
  <cp:revision>12</cp:revision>
  <dcterms:created xsi:type="dcterms:W3CDTF">2025-12-06T10:50:47Z</dcterms:created>
  <dcterms:modified xsi:type="dcterms:W3CDTF">2025-12-07T14:33:28Z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0x010100338CFE25C07E3D4B99E6B353E578529C</vt:lpwstr>
  </property>
  <property fmtid="{D5CDD505-2E9C-101B-9397-08002B2CF9AE}" pid="3" name="MediaServiceImageTags">
    <vt:lpwstr/>
  </property>
</Properties>
</file>